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88" d="100"/>
          <a:sy n="88" d="100"/>
        </p:scale>
        <p:origin x="451"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B259C-788A-C7D5-D3B1-E0E8A647CC5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B0DE927-58CC-566F-7CF1-C1FA40B1FB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7AD3813-94B0-318C-25E1-CB71B657CE8A}"/>
              </a:ext>
            </a:extLst>
          </p:cNvPr>
          <p:cNvSpPr>
            <a:spLocks noGrp="1"/>
          </p:cNvSpPr>
          <p:nvPr>
            <p:ph type="dt" sz="half" idx="10"/>
          </p:nvPr>
        </p:nvSpPr>
        <p:spPr/>
        <p:txBody>
          <a:bodyPr/>
          <a:lstStyle/>
          <a:p>
            <a:fld id="{A12F06FB-00F7-480D-86E0-306890120784}" type="datetimeFigureOut">
              <a:rPr lang="en-IN" smtClean="0"/>
              <a:t>29-10-2025</a:t>
            </a:fld>
            <a:endParaRPr lang="en-IN"/>
          </a:p>
        </p:txBody>
      </p:sp>
      <p:sp>
        <p:nvSpPr>
          <p:cNvPr id="5" name="Footer Placeholder 4">
            <a:extLst>
              <a:ext uri="{FF2B5EF4-FFF2-40B4-BE49-F238E27FC236}">
                <a16:creationId xmlns:a16="http://schemas.microsoft.com/office/drawing/2014/main" id="{C708163E-1172-C2F3-2898-9C397DA7C2E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5E61F0-D8ED-33E4-3A7B-A17F3AEDD90B}"/>
              </a:ext>
            </a:extLst>
          </p:cNvPr>
          <p:cNvSpPr>
            <a:spLocks noGrp="1"/>
          </p:cNvSpPr>
          <p:nvPr>
            <p:ph type="sldNum" sz="quarter" idx="12"/>
          </p:nvPr>
        </p:nvSpPr>
        <p:spPr/>
        <p:txBody>
          <a:bodyPr/>
          <a:lstStyle/>
          <a:p>
            <a:fld id="{D0DA2D9E-F460-43D2-9FD2-36C2FE3E55F3}" type="slidenum">
              <a:rPr lang="en-IN" smtClean="0"/>
              <a:t>‹#›</a:t>
            </a:fld>
            <a:endParaRPr lang="en-IN"/>
          </a:p>
        </p:txBody>
      </p:sp>
    </p:spTree>
    <p:extLst>
      <p:ext uri="{BB962C8B-B14F-4D97-AF65-F5344CB8AC3E}">
        <p14:creationId xmlns:p14="http://schemas.microsoft.com/office/powerpoint/2010/main" val="10944121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A49BE-CBD0-8089-8089-4313C749C31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A2C96C9-5A95-FF36-A24B-D4B9487AE36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1064BE5-B12D-C7BB-6166-6387086091A4}"/>
              </a:ext>
            </a:extLst>
          </p:cNvPr>
          <p:cNvSpPr>
            <a:spLocks noGrp="1"/>
          </p:cNvSpPr>
          <p:nvPr>
            <p:ph type="dt" sz="half" idx="10"/>
          </p:nvPr>
        </p:nvSpPr>
        <p:spPr/>
        <p:txBody>
          <a:bodyPr/>
          <a:lstStyle/>
          <a:p>
            <a:fld id="{A12F06FB-00F7-480D-86E0-306890120784}" type="datetimeFigureOut">
              <a:rPr lang="en-IN" smtClean="0"/>
              <a:t>29-10-2025</a:t>
            </a:fld>
            <a:endParaRPr lang="en-IN"/>
          </a:p>
        </p:txBody>
      </p:sp>
      <p:sp>
        <p:nvSpPr>
          <p:cNvPr id="5" name="Footer Placeholder 4">
            <a:extLst>
              <a:ext uri="{FF2B5EF4-FFF2-40B4-BE49-F238E27FC236}">
                <a16:creationId xmlns:a16="http://schemas.microsoft.com/office/drawing/2014/main" id="{C7334F54-40AD-84D4-2864-FC3F494D905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8523197-06DC-ACF8-9952-351E68F9CE90}"/>
              </a:ext>
            </a:extLst>
          </p:cNvPr>
          <p:cNvSpPr>
            <a:spLocks noGrp="1"/>
          </p:cNvSpPr>
          <p:nvPr>
            <p:ph type="sldNum" sz="quarter" idx="12"/>
          </p:nvPr>
        </p:nvSpPr>
        <p:spPr/>
        <p:txBody>
          <a:bodyPr/>
          <a:lstStyle/>
          <a:p>
            <a:fld id="{D0DA2D9E-F460-43D2-9FD2-36C2FE3E55F3}" type="slidenum">
              <a:rPr lang="en-IN" smtClean="0"/>
              <a:t>‹#›</a:t>
            </a:fld>
            <a:endParaRPr lang="en-IN"/>
          </a:p>
        </p:txBody>
      </p:sp>
    </p:spTree>
    <p:extLst>
      <p:ext uri="{BB962C8B-B14F-4D97-AF65-F5344CB8AC3E}">
        <p14:creationId xmlns:p14="http://schemas.microsoft.com/office/powerpoint/2010/main" val="12003356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32E80-B79E-AF53-F325-6CFEABF85FF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87F4190-1ACB-8965-B33D-A0B3EE51801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B7D308D-6D15-2B39-F9E5-7B09AF6149E0}"/>
              </a:ext>
            </a:extLst>
          </p:cNvPr>
          <p:cNvSpPr>
            <a:spLocks noGrp="1"/>
          </p:cNvSpPr>
          <p:nvPr>
            <p:ph type="dt" sz="half" idx="10"/>
          </p:nvPr>
        </p:nvSpPr>
        <p:spPr/>
        <p:txBody>
          <a:bodyPr/>
          <a:lstStyle/>
          <a:p>
            <a:fld id="{A12F06FB-00F7-480D-86E0-306890120784}" type="datetimeFigureOut">
              <a:rPr lang="en-IN" smtClean="0"/>
              <a:t>29-10-2025</a:t>
            </a:fld>
            <a:endParaRPr lang="en-IN"/>
          </a:p>
        </p:txBody>
      </p:sp>
      <p:sp>
        <p:nvSpPr>
          <p:cNvPr id="5" name="Footer Placeholder 4">
            <a:extLst>
              <a:ext uri="{FF2B5EF4-FFF2-40B4-BE49-F238E27FC236}">
                <a16:creationId xmlns:a16="http://schemas.microsoft.com/office/drawing/2014/main" id="{DD41CB36-CBD5-E678-B91C-7160B119179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5808205-67A3-82DB-CC3B-C4EF315105FC}"/>
              </a:ext>
            </a:extLst>
          </p:cNvPr>
          <p:cNvSpPr>
            <a:spLocks noGrp="1"/>
          </p:cNvSpPr>
          <p:nvPr>
            <p:ph type="sldNum" sz="quarter" idx="12"/>
          </p:nvPr>
        </p:nvSpPr>
        <p:spPr/>
        <p:txBody>
          <a:bodyPr/>
          <a:lstStyle/>
          <a:p>
            <a:fld id="{D0DA2D9E-F460-43D2-9FD2-36C2FE3E55F3}" type="slidenum">
              <a:rPr lang="en-IN" smtClean="0"/>
              <a:t>‹#›</a:t>
            </a:fld>
            <a:endParaRPr lang="en-IN"/>
          </a:p>
        </p:txBody>
      </p:sp>
    </p:spTree>
    <p:extLst>
      <p:ext uri="{BB962C8B-B14F-4D97-AF65-F5344CB8AC3E}">
        <p14:creationId xmlns:p14="http://schemas.microsoft.com/office/powerpoint/2010/main" val="25209262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54DFA-3281-D04D-0589-C7FC27D1A76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CED56B8-9E37-D37A-3153-EA20EB5D4CE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AD36B33-C1BC-4A7F-9DCE-89E2A99559D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89283A3-367B-F178-4834-002F910C0273}"/>
              </a:ext>
            </a:extLst>
          </p:cNvPr>
          <p:cNvSpPr>
            <a:spLocks noGrp="1"/>
          </p:cNvSpPr>
          <p:nvPr>
            <p:ph type="dt" sz="half" idx="10"/>
          </p:nvPr>
        </p:nvSpPr>
        <p:spPr/>
        <p:txBody>
          <a:bodyPr/>
          <a:lstStyle/>
          <a:p>
            <a:fld id="{A12F06FB-00F7-480D-86E0-306890120784}" type="datetimeFigureOut">
              <a:rPr lang="en-IN" smtClean="0"/>
              <a:t>29-10-2025</a:t>
            </a:fld>
            <a:endParaRPr lang="en-IN"/>
          </a:p>
        </p:txBody>
      </p:sp>
      <p:sp>
        <p:nvSpPr>
          <p:cNvPr id="6" name="Footer Placeholder 5">
            <a:extLst>
              <a:ext uri="{FF2B5EF4-FFF2-40B4-BE49-F238E27FC236}">
                <a16:creationId xmlns:a16="http://schemas.microsoft.com/office/drawing/2014/main" id="{B63BA81C-1711-9D48-6ECD-4C1E426147B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A0C9839-3165-2ED1-A357-B58B3AB8357F}"/>
              </a:ext>
            </a:extLst>
          </p:cNvPr>
          <p:cNvSpPr>
            <a:spLocks noGrp="1"/>
          </p:cNvSpPr>
          <p:nvPr>
            <p:ph type="sldNum" sz="quarter" idx="12"/>
          </p:nvPr>
        </p:nvSpPr>
        <p:spPr/>
        <p:txBody>
          <a:bodyPr/>
          <a:lstStyle/>
          <a:p>
            <a:fld id="{D0DA2D9E-F460-43D2-9FD2-36C2FE3E55F3}" type="slidenum">
              <a:rPr lang="en-IN" smtClean="0"/>
              <a:t>‹#›</a:t>
            </a:fld>
            <a:endParaRPr lang="en-IN"/>
          </a:p>
        </p:txBody>
      </p:sp>
    </p:spTree>
    <p:extLst>
      <p:ext uri="{BB962C8B-B14F-4D97-AF65-F5344CB8AC3E}">
        <p14:creationId xmlns:p14="http://schemas.microsoft.com/office/powerpoint/2010/main" val="3320167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C17E5-D657-01D1-DE3C-6A0311BBFC7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9434BF5-4A43-2BAE-0492-5C7A73E8F38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02F7C0F-2092-6BCA-3AC1-5711EB5169C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11F6E66-9B03-3E29-C231-566A80D54A9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D49075-3A8F-DA7C-839B-1C188A99B87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9D689B0-5C40-BE65-20DB-4CD99377BFAE}"/>
              </a:ext>
            </a:extLst>
          </p:cNvPr>
          <p:cNvSpPr>
            <a:spLocks noGrp="1"/>
          </p:cNvSpPr>
          <p:nvPr>
            <p:ph type="dt" sz="half" idx="10"/>
          </p:nvPr>
        </p:nvSpPr>
        <p:spPr/>
        <p:txBody>
          <a:bodyPr/>
          <a:lstStyle/>
          <a:p>
            <a:fld id="{A12F06FB-00F7-480D-86E0-306890120784}" type="datetimeFigureOut">
              <a:rPr lang="en-IN" smtClean="0"/>
              <a:t>29-10-2025</a:t>
            </a:fld>
            <a:endParaRPr lang="en-IN"/>
          </a:p>
        </p:txBody>
      </p:sp>
      <p:sp>
        <p:nvSpPr>
          <p:cNvPr id="8" name="Footer Placeholder 7">
            <a:extLst>
              <a:ext uri="{FF2B5EF4-FFF2-40B4-BE49-F238E27FC236}">
                <a16:creationId xmlns:a16="http://schemas.microsoft.com/office/drawing/2014/main" id="{2B202250-3462-3947-0902-E270339A877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C8DC120-4A38-4DD1-53AD-80D43288E07B}"/>
              </a:ext>
            </a:extLst>
          </p:cNvPr>
          <p:cNvSpPr>
            <a:spLocks noGrp="1"/>
          </p:cNvSpPr>
          <p:nvPr>
            <p:ph type="sldNum" sz="quarter" idx="12"/>
          </p:nvPr>
        </p:nvSpPr>
        <p:spPr/>
        <p:txBody>
          <a:bodyPr/>
          <a:lstStyle/>
          <a:p>
            <a:fld id="{D0DA2D9E-F460-43D2-9FD2-36C2FE3E55F3}" type="slidenum">
              <a:rPr lang="en-IN" smtClean="0"/>
              <a:t>‹#›</a:t>
            </a:fld>
            <a:endParaRPr lang="en-IN"/>
          </a:p>
        </p:txBody>
      </p:sp>
    </p:spTree>
    <p:extLst>
      <p:ext uri="{BB962C8B-B14F-4D97-AF65-F5344CB8AC3E}">
        <p14:creationId xmlns:p14="http://schemas.microsoft.com/office/powerpoint/2010/main" val="34312453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04226-1456-A851-153D-7BBAD0F4F51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F3CE8AE-2F37-9A5B-C61B-E34ECB807D7F}"/>
              </a:ext>
            </a:extLst>
          </p:cNvPr>
          <p:cNvSpPr>
            <a:spLocks noGrp="1"/>
          </p:cNvSpPr>
          <p:nvPr>
            <p:ph type="dt" sz="half" idx="10"/>
          </p:nvPr>
        </p:nvSpPr>
        <p:spPr/>
        <p:txBody>
          <a:bodyPr/>
          <a:lstStyle/>
          <a:p>
            <a:fld id="{A12F06FB-00F7-480D-86E0-306890120784}" type="datetimeFigureOut">
              <a:rPr lang="en-IN" smtClean="0"/>
              <a:t>29-10-2025</a:t>
            </a:fld>
            <a:endParaRPr lang="en-IN"/>
          </a:p>
        </p:txBody>
      </p:sp>
      <p:sp>
        <p:nvSpPr>
          <p:cNvPr id="4" name="Footer Placeholder 3">
            <a:extLst>
              <a:ext uri="{FF2B5EF4-FFF2-40B4-BE49-F238E27FC236}">
                <a16:creationId xmlns:a16="http://schemas.microsoft.com/office/drawing/2014/main" id="{B356E3B0-0855-6F63-F034-9D2D2592E6F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0F88362-D382-01B3-9BC6-A67694F34009}"/>
              </a:ext>
            </a:extLst>
          </p:cNvPr>
          <p:cNvSpPr>
            <a:spLocks noGrp="1"/>
          </p:cNvSpPr>
          <p:nvPr>
            <p:ph type="sldNum" sz="quarter" idx="12"/>
          </p:nvPr>
        </p:nvSpPr>
        <p:spPr/>
        <p:txBody>
          <a:bodyPr/>
          <a:lstStyle/>
          <a:p>
            <a:fld id="{D0DA2D9E-F460-43D2-9FD2-36C2FE3E55F3}" type="slidenum">
              <a:rPr lang="en-IN" smtClean="0"/>
              <a:t>‹#›</a:t>
            </a:fld>
            <a:endParaRPr lang="en-IN"/>
          </a:p>
        </p:txBody>
      </p:sp>
    </p:spTree>
    <p:extLst>
      <p:ext uri="{BB962C8B-B14F-4D97-AF65-F5344CB8AC3E}">
        <p14:creationId xmlns:p14="http://schemas.microsoft.com/office/powerpoint/2010/main" val="6521751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6DBD93E-F03E-8C43-3AD0-360777FF816F}"/>
              </a:ext>
            </a:extLst>
          </p:cNvPr>
          <p:cNvSpPr>
            <a:spLocks noGrp="1"/>
          </p:cNvSpPr>
          <p:nvPr>
            <p:ph type="dt" sz="half" idx="10"/>
          </p:nvPr>
        </p:nvSpPr>
        <p:spPr/>
        <p:txBody>
          <a:bodyPr/>
          <a:lstStyle/>
          <a:p>
            <a:fld id="{A12F06FB-00F7-480D-86E0-306890120784}" type="datetimeFigureOut">
              <a:rPr lang="en-IN" smtClean="0"/>
              <a:t>29-10-2025</a:t>
            </a:fld>
            <a:endParaRPr lang="en-IN"/>
          </a:p>
        </p:txBody>
      </p:sp>
      <p:sp>
        <p:nvSpPr>
          <p:cNvPr id="3" name="Footer Placeholder 2">
            <a:extLst>
              <a:ext uri="{FF2B5EF4-FFF2-40B4-BE49-F238E27FC236}">
                <a16:creationId xmlns:a16="http://schemas.microsoft.com/office/drawing/2014/main" id="{66D03B65-901E-DD54-D387-7F4123FE35F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EC3A1D4-1C9F-9AA2-4E34-0C09611EEBE6}"/>
              </a:ext>
            </a:extLst>
          </p:cNvPr>
          <p:cNvSpPr>
            <a:spLocks noGrp="1"/>
          </p:cNvSpPr>
          <p:nvPr>
            <p:ph type="sldNum" sz="quarter" idx="12"/>
          </p:nvPr>
        </p:nvSpPr>
        <p:spPr/>
        <p:txBody>
          <a:bodyPr/>
          <a:lstStyle/>
          <a:p>
            <a:fld id="{D0DA2D9E-F460-43D2-9FD2-36C2FE3E55F3}" type="slidenum">
              <a:rPr lang="en-IN" smtClean="0"/>
              <a:t>‹#›</a:t>
            </a:fld>
            <a:endParaRPr lang="en-IN"/>
          </a:p>
        </p:txBody>
      </p:sp>
    </p:spTree>
    <p:extLst>
      <p:ext uri="{BB962C8B-B14F-4D97-AF65-F5344CB8AC3E}">
        <p14:creationId xmlns:p14="http://schemas.microsoft.com/office/powerpoint/2010/main" val="14974692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D4992-6987-B4D5-70E2-10B1B8BC7A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48FDAA5-3B0B-8AAF-1FCF-DF3F083C52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1D0C795-470B-B41E-1912-3DE5329D9D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21CB1B-1CF1-B006-6323-B69469315BAA}"/>
              </a:ext>
            </a:extLst>
          </p:cNvPr>
          <p:cNvSpPr>
            <a:spLocks noGrp="1"/>
          </p:cNvSpPr>
          <p:nvPr>
            <p:ph type="dt" sz="half" idx="10"/>
          </p:nvPr>
        </p:nvSpPr>
        <p:spPr/>
        <p:txBody>
          <a:bodyPr/>
          <a:lstStyle/>
          <a:p>
            <a:fld id="{A12F06FB-00F7-480D-86E0-306890120784}" type="datetimeFigureOut">
              <a:rPr lang="en-IN" smtClean="0"/>
              <a:t>29-10-2025</a:t>
            </a:fld>
            <a:endParaRPr lang="en-IN"/>
          </a:p>
        </p:txBody>
      </p:sp>
      <p:sp>
        <p:nvSpPr>
          <p:cNvPr id="6" name="Footer Placeholder 5">
            <a:extLst>
              <a:ext uri="{FF2B5EF4-FFF2-40B4-BE49-F238E27FC236}">
                <a16:creationId xmlns:a16="http://schemas.microsoft.com/office/drawing/2014/main" id="{C8A525F0-2A05-4653-227B-3C95AD72C72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237F00E-6408-B8F7-E286-B90544CA01E6}"/>
              </a:ext>
            </a:extLst>
          </p:cNvPr>
          <p:cNvSpPr>
            <a:spLocks noGrp="1"/>
          </p:cNvSpPr>
          <p:nvPr>
            <p:ph type="sldNum" sz="quarter" idx="12"/>
          </p:nvPr>
        </p:nvSpPr>
        <p:spPr/>
        <p:txBody>
          <a:bodyPr/>
          <a:lstStyle/>
          <a:p>
            <a:fld id="{D0DA2D9E-F460-43D2-9FD2-36C2FE3E55F3}" type="slidenum">
              <a:rPr lang="en-IN" smtClean="0"/>
              <a:t>‹#›</a:t>
            </a:fld>
            <a:endParaRPr lang="en-IN"/>
          </a:p>
        </p:txBody>
      </p:sp>
    </p:spTree>
    <p:extLst>
      <p:ext uri="{BB962C8B-B14F-4D97-AF65-F5344CB8AC3E}">
        <p14:creationId xmlns:p14="http://schemas.microsoft.com/office/powerpoint/2010/main" val="3176076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C2557-4AB4-137E-EBCB-189E3DCD88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EAC459F-5002-94DF-2FB8-9C69DFB3BB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ECF656B-D6E2-2244-111B-AC4DF93328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6F093C-B8DD-396A-80BA-7399806CB2FE}"/>
              </a:ext>
            </a:extLst>
          </p:cNvPr>
          <p:cNvSpPr>
            <a:spLocks noGrp="1"/>
          </p:cNvSpPr>
          <p:nvPr>
            <p:ph type="dt" sz="half" idx="10"/>
          </p:nvPr>
        </p:nvSpPr>
        <p:spPr/>
        <p:txBody>
          <a:bodyPr/>
          <a:lstStyle/>
          <a:p>
            <a:fld id="{A12F06FB-00F7-480D-86E0-306890120784}" type="datetimeFigureOut">
              <a:rPr lang="en-IN" smtClean="0"/>
              <a:t>29-10-2025</a:t>
            </a:fld>
            <a:endParaRPr lang="en-IN"/>
          </a:p>
        </p:txBody>
      </p:sp>
      <p:sp>
        <p:nvSpPr>
          <p:cNvPr id="6" name="Footer Placeholder 5">
            <a:extLst>
              <a:ext uri="{FF2B5EF4-FFF2-40B4-BE49-F238E27FC236}">
                <a16:creationId xmlns:a16="http://schemas.microsoft.com/office/drawing/2014/main" id="{1179AD53-5C2E-9A08-8A6B-89079A7CA06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FD10CE2-89FE-9163-2017-BCBDECE40444}"/>
              </a:ext>
            </a:extLst>
          </p:cNvPr>
          <p:cNvSpPr>
            <a:spLocks noGrp="1"/>
          </p:cNvSpPr>
          <p:nvPr>
            <p:ph type="sldNum" sz="quarter" idx="12"/>
          </p:nvPr>
        </p:nvSpPr>
        <p:spPr/>
        <p:txBody>
          <a:bodyPr/>
          <a:lstStyle/>
          <a:p>
            <a:fld id="{D0DA2D9E-F460-43D2-9FD2-36C2FE3E55F3}" type="slidenum">
              <a:rPr lang="en-IN" smtClean="0"/>
              <a:t>‹#›</a:t>
            </a:fld>
            <a:endParaRPr lang="en-IN"/>
          </a:p>
        </p:txBody>
      </p:sp>
    </p:spTree>
    <p:extLst>
      <p:ext uri="{BB962C8B-B14F-4D97-AF65-F5344CB8AC3E}">
        <p14:creationId xmlns:p14="http://schemas.microsoft.com/office/powerpoint/2010/main" val="41246423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7BA47-5739-7E45-32D2-22939FC0788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C05DBDE-6BCE-986A-914D-C1C416D2D7F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FAC355E-4EF0-1851-3457-A06D988E139E}"/>
              </a:ext>
            </a:extLst>
          </p:cNvPr>
          <p:cNvSpPr>
            <a:spLocks noGrp="1"/>
          </p:cNvSpPr>
          <p:nvPr>
            <p:ph type="dt" sz="half" idx="10"/>
          </p:nvPr>
        </p:nvSpPr>
        <p:spPr/>
        <p:txBody>
          <a:bodyPr/>
          <a:lstStyle/>
          <a:p>
            <a:fld id="{A12F06FB-00F7-480D-86E0-306890120784}" type="datetimeFigureOut">
              <a:rPr lang="en-IN" smtClean="0"/>
              <a:t>29-10-2025</a:t>
            </a:fld>
            <a:endParaRPr lang="en-IN"/>
          </a:p>
        </p:txBody>
      </p:sp>
      <p:sp>
        <p:nvSpPr>
          <p:cNvPr id="5" name="Footer Placeholder 4">
            <a:extLst>
              <a:ext uri="{FF2B5EF4-FFF2-40B4-BE49-F238E27FC236}">
                <a16:creationId xmlns:a16="http://schemas.microsoft.com/office/drawing/2014/main" id="{C51FAF48-5C96-1DD8-DF95-7DDF88B5FAC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5544441-0E25-636B-E522-071CF72A6482}"/>
              </a:ext>
            </a:extLst>
          </p:cNvPr>
          <p:cNvSpPr>
            <a:spLocks noGrp="1"/>
          </p:cNvSpPr>
          <p:nvPr>
            <p:ph type="sldNum" sz="quarter" idx="12"/>
          </p:nvPr>
        </p:nvSpPr>
        <p:spPr/>
        <p:txBody>
          <a:bodyPr/>
          <a:lstStyle/>
          <a:p>
            <a:fld id="{D0DA2D9E-F460-43D2-9FD2-36C2FE3E55F3}" type="slidenum">
              <a:rPr lang="en-IN" smtClean="0"/>
              <a:t>‹#›</a:t>
            </a:fld>
            <a:endParaRPr lang="en-IN"/>
          </a:p>
        </p:txBody>
      </p:sp>
    </p:spTree>
    <p:extLst>
      <p:ext uri="{BB962C8B-B14F-4D97-AF65-F5344CB8AC3E}">
        <p14:creationId xmlns:p14="http://schemas.microsoft.com/office/powerpoint/2010/main" val="2018830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0FC5784-8FC7-4310-A4CB-E8E298209D3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03B23D2-3BEB-1AF7-D6EC-4375ED490F0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663ACA9-59FB-E072-53F9-44C47BDFF095}"/>
              </a:ext>
            </a:extLst>
          </p:cNvPr>
          <p:cNvSpPr>
            <a:spLocks noGrp="1"/>
          </p:cNvSpPr>
          <p:nvPr>
            <p:ph type="dt" sz="half" idx="10"/>
          </p:nvPr>
        </p:nvSpPr>
        <p:spPr/>
        <p:txBody>
          <a:bodyPr/>
          <a:lstStyle/>
          <a:p>
            <a:fld id="{A12F06FB-00F7-480D-86E0-306890120784}" type="datetimeFigureOut">
              <a:rPr lang="en-IN" smtClean="0"/>
              <a:t>29-10-2025</a:t>
            </a:fld>
            <a:endParaRPr lang="en-IN"/>
          </a:p>
        </p:txBody>
      </p:sp>
      <p:sp>
        <p:nvSpPr>
          <p:cNvPr id="5" name="Footer Placeholder 4">
            <a:extLst>
              <a:ext uri="{FF2B5EF4-FFF2-40B4-BE49-F238E27FC236}">
                <a16:creationId xmlns:a16="http://schemas.microsoft.com/office/drawing/2014/main" id="{1B567C1D-7906-05EA-E778-DB4ADD7DB7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83561D8-D45D-6E4D-834A-E3CE99F55C47}"/>
              </a:ext>
            </a:extLst>
          </p:cNvPr>
          <p:cNvSpPr>
            <a:spLocks noGrp="1"/>
          </p:cNvSpPr>
          <p:nvPr>
            <p:ph type="sldNum" sz="quarter" idx="12"/>
          </p:nvPr>
        </p:nvSpPr>
        <p:spPr/>
        <p:txBody>
          <a:bodyPr/>
          <a:lstStyle/>
          <a:p>
            <a:fld id="{D0DA2D9E-F460-43D2-9FD2-36C2FE3E55F3}" type="slidenum">
              <a:rPr lang="en-IN" smtClean="0"/>
              <a:t>‹#›</a:t>
            </a:fld>
            <a:endParaRPr lang="en-IN"/>
          </a:p>
        </p:txBody>
      </p:sp>
    </p:spTree>
    <p:extLst>
      <p:ext uri="{BB962C8B-B14F-4D97-AF65-F5344CB8AC3E}">
        <p14:creationId xmlns:p14="http://schemas.microsoft.com/office/powerpoint/2010/main" val="9298187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5B2365-4431-AD36-C180-6DBAB90B6E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52B5569-8016-2088-4E28-400A0497B3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7880C65-FD95-3ADA-8C8C-799554D3325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2F06FB-00F7-480D-86E0-306890120784}" type="datetimeFigureOut">
              <a:rPr lang="en-IN" smtClean="0"/>
              <a:t>29-10-2025</a:t>
            </a:fld>
            <a:endParaRPr lang="en-IN"/>
          </a:p>
        </p:txBody>
      </p:sp>
      <p:sp>
        <p:nvSpPr>
          <p:cNvPr id="5" name="Footer Placeholder 4">
            <a:extLst>
              <a:ext uri="{FF2B5EF4-FFF2-40B4-BE49-F238E27FC236}">
                <a16:creationId xmlns:a16="http://schemas.microsoft.com/office/drawing/2014/main" id="{848EF94F-2751-C757-817C-1F2E57E9A94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A3A61E4-A50E-1DFA-E35C-70CA4542E5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DA2D9E-F460-43D2-9FD2-36C2FE3E55F3}" type="slidenum">
              <a:rPr lang="en-IN" smtClean="0"/>
              <a:t>‹#›</a:t>
            </a:fld>
            <a:endParaRPr lang="en-IN"/>
          </a:p>
        </p:txBody>
      </p:sp>
    </p:spTree>
    <p:extLst>
      <p:ext uri="{BB962C8B-B14F-4D97-AF65-F5344CB8AC3E}">
        <p14:creationId xmlns:p14="http://schemas.microsoft.com/office/powerpoint/2010/main" val="24723228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CE650-BBB7-D5DF-CDAD-2D452CB14F2E}"/>
              </a:ext>
            </a:extLst>
          </p:cNvPr>
          <p:cNvSpPr>
            <a:spLocks noGrp="1"/>
          </p:cNvSpPr>
          <p:nvPr>
            <p:ph type="title"/>
          </p:nvPr>
        </p:nvSpPr>
        <p:spPr>
          <a:xfrm>
            <a:off x="661851" y="2261437"/>
            <a:ext cx="10639697" cy="1962219"/>
          </a:xfrm>
        </p:spPr>
        <p:txBody>
          <a:bodyPr>
            <a:normAutofit/>
          </a:bodyPr>
          <a:lstStyle/>
          <a:p>
            <a:pPr algn="ctr"/>
            <a:r>
              <a:rPr lang="en-US" sz="2400" b="1" dirty="0">
                <a:latin typeface="Times New Roman" pitchFamily="18" charset="0"/>
                <a:cs typeface="Times New Roman" pitchFamily="18" charset="0"/>
              </a:rPr>
              <a:t>Mini Project </a:t>
            </a:r>
            <a:br>
              <a:rPr lang="en-US" sz="2400" b="1" dirty="0">
                <a:latin typeface="Times New Roman" pitchFamily="18" charset="0"/>
                <a:cs typeface="Times New Roman" pitchFamily="18" charset="0"/>
              </a:rPr>
            </a:br>
            <a:r>
              <a:rPr lang="en-US" b="1" dirty="0"/>
              <a:t>AI-Powered EV Battery Fire Prevention System</a:t>
            </a:r>
            <a:r>
              <a:rPr lang="en-US" b="1" dirty="0">
                <a:latin typeface="Times New Roman" pitchFamily="18" charset="0"/>
                <a:cs typeface="Times New Roman" pitchFamily="18" charset="0"/>
              </a:rPr>
              <a:t> </a:t>
            </a:r>
            <a:endParaRPr lang="en-IN" b="1" dirty="0"/>
          </a:p>
        </p:txBody>
      </p:sp>
      <p:pic>
        <p:nvPicPr>
          <p:cNvPr id="4" name="Picture 3">
            <a:extLst>
              <a:ext uri="{FF2B5EF4-FFF2-40B4-BE49-F238E27FC236}">
                <a16:creationId xmlns:a16="http://schemas.microsoft.com/office/drawing/2014/main" id="{EA69404A-3DD4-2D88-51FE-3B140DB55261}"/>
              </a:ext>
            </a:extLst>
          </p:cNvPr>
          <p:cNvPicPr>
            <a:picLocks noChangeAspect="1"/>
          </p:cNvPicPr>
          <p:nvPr/>
        </p:nvPicPr>
        <p:blipFill>
          <a:blip r:embed="rId2"/>
          <a:stretch>
            <a:fillRect/>
          </a:stretch>
        </p:blipFill>
        <p:spPr>
          <a:xfrm>
            <a:off x="975057" y="313023"/>
            <a:ext cx="9440394" cy="1489651"/>
          </a:xfrm>
          <a:prstGeom prst="rect">
            <a:avLst/>
          </a:prstGeom>
        </p:spPr>
      </p:pic>
      <p:pic>
        <p:nvPicPr>
          <p:cNvPr id="5" name="Picture 4">
            <a:extLst>
              <a:ext uri="{FF2B5EF4-FFF2-40B4-BE49-F238E27FC236}">
                <a16:creationId xmlns:a16="http://schemas.microsoft.com/office/drawing/2014/main" id="{F96C568E-8F2A-F48F-72ED-19046700251D}"/>
              </a:ext>
            </a:extLst>
          </p:cNvPr>
          <p:cNvPicPr>
            <a:picLocks noChangeAspect="1"/>
          </p:cNvPicPr>
          <p:nvPr/>
        </p:nvPicPr>
        <p:blipFill>
          <a:blip r:embed="rId3"/>
          <a:stretch>
            <a:fillRect/>
          </a:stretch>
        </p:blipFill>
        <p:spPr>
          <a:xfrm>
            <a:off x="10554789" y="502884"/>
            <a:ext cx="1213890" cy="853514"/>
          </a:xfrm>
          <a:prstGeom prst="rect">
            <a:avLst/>
          </a:prstGeom>
        </p:spPr>
      </p:pic>
      <p:pic>
        <p:nvPicPr>
          <p:cNvPr id="7" name="Picture 6">
            <a:extLst>
              <a:ext uri="{FF2B5EF4-FFF2-40B4-BE49-F238E27FC236}">
                <a16:creationId xmlns:a16="http://schemas.microsoft.com/office/drawing/2014/main" id="{3CC1B143-8CE8-7ACF-3636-1FACFAB256F5}"/>
              </a:ext>
            </a:extLst>
          </p:cNvPr>
          <p:cNvPicPr>
            <a:picLocks noChangeAspect="1"/>
          </p:cNvPicPr>
          <p:nvPr/>
        </p:nvPicPr>
        <p:blipFill>
          <a:blip r:embed="rId4"/>
          <a:stretch>
            <a:fillRect/>
          </a:stretch>
        </p:blipFill>
        <p:spPr>
          <a:xfrm>
            <a:off x="7883269" y="4582759"/>
            <a:ext cx="3810330" cy="1962218"/>
          </a:xfrm>
          <a:prstGeom prst="rect">
            <a:avLst/>
          </a:prstGeom>
        </p:spPr>
      </p:pic>
    </p:spTree>
    <p:extLst>
      <p:ext uri="{BB962C8B-B14F-4D97-AF65-F5344CB8AC3E}">
        <p14:creationId xmlns:p14="http://schemas.microsoft.com/office/powerpoint/2010/main" val="37665400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4638B-84C9-3A73-7E1E-7E626F3B898A}"/>
              </a:ext>
            </a:extLst>
          </p:cNvPr>
          <p:cNvSpPr>
            <a:spLocks noGrp="1"/>
          </p:cNvSpPr>
          <p:nvPr>
            <p:ph type="title"/>
          </p:nvPr>
        </p:nvSpPr>
        <p:spPr>
          <a:xfrm>
            <a:off x="69669" y="87087"/>
            <a:ext cx="12122331" cy="975359"/>
          </a:xfrm>
        </p:spPr>
        <p:txBody>
          <a:bodyPr/>
          <a:lstStyle/>
          <a:p>
            <a:r>
              <a:rPr lang="en-US" dirty="0"/>
              <a:t>AI-Powered EV Battery Fire Prevention System</a:t>
            </a:r>
            <a:endParaRPr lang="en-IN" dirty="0"/>
          </a:p>
        </p:txBody>
      </p:sp>
      <p:sp>
        <p:nvSpPr>
          <p:cNvPr id="3" name="Content Placeholder 2">
            <a:extLst>
              <a:ext uri="{FF2B5EF4-FFF2-40B4-BE49-F238E27FC236}">
                <a16:creationId xmlns:a16="http://schemas.microsoft.com/office/drawing/2014/main" id="{8FF7C2FC-DFF6-F239-6421-EBF78B20C19C}"/>
              </a:ext>
            </a:extLst>
          </p:cNvPr>
          <p:cNvSpPr>
            <a:spLocks noGrp="1"/>
          </p:cNvSpPr>
          <p:nvPr>
            <p:ph idx="1"/>
          </p:nvPr>
        </p:nvSpPr>
        <p:spPr>
          <a:xfrm>
            <a:off x="182880" y="1062446"/>
            <a:ext cx="12009120" cy="5599611"/>
          </a:xfrm>
        </p:spPr>
        <p:txBody>
          <a:bodyPr>
            <a:normAutofit/>
          </a:bodyPr>
          <a:lstStyle/>
          <a:p>
            <a:r>
              <a:rPr lang="en-IN" u="sng" dirty="0"/>
              <a:t>Introduction :</a:t>
            </a:r>
          </a:p>
          <a:p>
            <a:r>
              <a:rPr lang="en-US" dirty="0">
                <a:latin typeface="Times New Roman" panose="02020603050405020304" pitchFamily="18" charset="0"/>
                <a:cs typeface="Times New Roman" panose="02020603050405020304" pitchFamily="18" charset="0"/>
              </a:rPr>
              <a:t>This project focuses on developing an intelligent system to predict and prevent fire hazards in electric vehicle (EV) batteries. </a:t>
            </a:r>
          </a:p>
          <a:p>
            <a:r>
              <a:rPr lang="en-US" dirty="0">
                <a:latin typeface="Times New Roman" panose="02020603050405020304" pitchFamily="18" charset="0"/>
                <a:cs typeface="Times New Roman" panose="02020603050405020304" pitchFamily="18" charset="0"/>
              </a:rPr>
              <a:t>Using artificial intelligence and IoT-based sensors, the system continuously monitors key battery parameters such as temperature, voltage, and current. Machine learning algorithms analyze the collected data to detect early signs of thermal runaway and trigger preventive alerts. </a:t>
            </a:r>
          </a:p>
          <a:p>
            <a:r>
              <a:rPr lang="en-US" dirty="0">
                <a:latin typeface="Times New Roman" panose="02020603050405020304" pitchFamily="18" charset="0"/>
                <a:cs typeface="Times New Roman" panose="02020603050405020304" pitchFamily="18" charset="0"/>
              </a:rPr>
              <a:t>This innovation aims to enhance the safety, reliability, and efficiency of EV battery systems through real-time monitoring and predictive maintenance. </a:t>
            </a:r>
          </a:p>
          <a:p>
            <a:r>
              <a:rPr lang="en-US" dirty="0">
                <a:latin typeface="Times New Roman" panose="02020603050405020304" pitchFamily="18" charset="0"/>
                <a:cs typeface="Times New Roman" panose="02020603050405020304" pitchFamily="18" charset="0"/>
              </a:rPr>
              <a:t>Battery safety is important because it prevents overheating, explosions, and fire hazards, ensuring the safety of users, vehicles, and the environment while improving battery life and performance.</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615903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02008-8578-6D6D-E72A-8216AF4511A3}"/>
              </a:ext>
            </a:extLst>
          </p:cNvPr>
          <p:cNvSpPr>
            <a:spLocks noGrp="1"/>
          </p:cNvSpPr>
          <p:nvPr>
            <p:ph type="title"/>
          </p:nvPr>
        </p:nvSpPr>
        <p:spPr>
          <a:xfrm>
            <a:off x="113211" y="1"/>
            <a:ext cx="11939452" cy="984068"/>
          </a:xfrm>
        </p:spPr>
        <p:txBody>
          <a:bodyPr/>
          <a:lstStyle/>
          <a:p>
            <a:pPr algn="ctr"/>
            <a:r>
              <a:rPr lang="en-IN" dirty="0"/>
              <a:t> </a:t>
            </a:r>
            <a:r>
              <a:rPr lang="en-IN" b="1" dirty="0">
                <a:latin typeface="Times New Roman" panose="02020603050405020304" pitchFamily="18" charset="0"/>
                <a:cs typeface="Times New Roman" panose="02020603050405020304" pitchFamily="18" charset="0"/>
              </a:rPr>
              <a:t>Problem Statement </a:t>
            </a:r>
          </a:p>
        </p:txBody>
      </p:sp>
      <p:sp>
        <p:nvSpPr>
          <p:cNvPr id="3" name="Content Placeholder 2">
            <a:extLst>
              <a:ext uri="{FF2B5EF4-FFF2-40B4-BE49-F238E27FC236}">
                <a16:creationId xmlns:a16="http://schemas.microsoft.com/office/drawing/2014/main" id="{66E6492D-6AEF-22A9-0B81-CF8EAFE64EEA}"/>
              </a:ext>
            </a:extLst>
          </p:cNvPr>
          <p:cNvSpPr>
            <a:spLocks noGrp="1"/>
          </p:cNvSpPr>
          <p:nvPr>
            <p:ph idx="1"/>
          </p:nvPr>
        </p:nvSpPr>
        <p:spPr>
          <a:xfrm>
            <a:off x="130628" y="894806"/>
            <a:ext cx="11948161" cy="5810794"/>
          </a:xfrm>
        </p:spPr>
        <p:txBody>
          <a:bodyPr/>
          <a:lstStyle/>
          <a:p>
            <a:pPr marL="0" indent="0" algn="just">
              <a:buNone/>
            </a:pPr>
            <a:r>
              <a:rPr lang="en-US" dirty="0"/>
              <a:t>EV Battery Fires are a Major Concern: </a:t>
            </a:r>
          </a:p>
          <a:p>
            <a:pPr marL="0" indent="0" algn="just">
              <a:buNone/>
            </a:pPr>
            <a:r>
              <a:rPr lang="en-US" dirty="0"/>
              <a:t>• Frequent thermal runaway incidents leading to fire hazards. </a:t>
            </a:r>
          </a:p>
          <a:p>
            <a:pPr marL="0" indent="0" algn="just">
              <a:buNone/>
            </a:pPr>
            <a:r>
              <a:rPr lang="en-US" dirty="0"/>
              <a:t>• Lack of real-time battery health monitoring &amp; risk alerts. </a:t>
            </a:r>
          </a:p>
          <a:p>
            <a:pPr marL="0" indent="0" algn="just">
              <a:buNone/>
            </a:pPr>
            <a:r>
              <a:rPr lang="en-US" dirty="0"/>
              <a:t>•EV owners suffer from unexpected breakdowns and expensive battery replacements.</a:t>
            </a:r>
          </a:p>
          <a:p>
            <a:endParaRPr lang="en-IN" dirty="0"/>
          </a:p>
        </p:txBody>
      </p:sp>
    </p:spTree>
    <p:extLst>
      <p:ext uri="{BB962C8B-B14F-4D97-AF65-F5344CB8AC3E}">
        <p14:creationId xmlns:p14="http://schemas.microsoft.com/office/powerpoint/2010/main" val="21707047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0B44D-7378-9831-1E4D-A00F40FC761E}"/>
              </a:ext>
            </a:extLst>
          </p:cNvPr>
          <p:cNvSpPr>
            <a:spLocks noGrp="1"/>
          </p:cNvSpPr>
          <p:nvPr>
            <p:ph type="title"/>
          </p:nvPr>
        </p:nvSpPr>
        <p:spPr>
          <a:xfrm>
            <a:off x="95793" y="1"/>
            <a:ext cx="12017829" cy="1045028"/>
          </a:xfrm>
        </p:spPr>
        <p:txBody>
          <a:bodyPr>
            <a:normAutofit/>
          </a:bodyPr>
          <a:lstStyle/>
          <a:p>
            <a:r>
              <a:rPr lang="en-IN" sz="3800" dirty="0">
                <a:latin typeface="Times New Roman" panose="02020603050405020304" pitchFamily="18" charset="0"/>
                <a:cs typeface="Times New Roman" panose="02020603050405020304" pitchFamily="18" charset="0"/>
              </a:rPr>
              <a:t>What is </a:t>
            </a:r>
            <a:r>
              <a:rPr lang="en-IN" sz="3800" dirty="0" err="1">
                <a:latin typeface="Times New Roman" panose="02020603050405020304" pitchFamily="18" charset="0"/>
                <a:cs typeface="Times New Roman" panose="02020603050405020304" pitchFamily="18" charset="0"/>
              </a:rPr>
              <a:t>PyBamm</a:t>
            </a:r>
            <a:r>
              <a:rPr lang="en-IN" sz="3800" dirty="0">
                <a:latin typeface="Times New Roman" panose="02020603050405020304" pitchFamily="18" charset="0"/>
                <a:cs typeface="Times New Roman" panose="02020603050405020304" pitchFamily="18" charset="0"/>
              </a:rPr>
              <a:t>:</a:t>
            </a:r>
            <a:r>
              <a:rPr lang="en-US" sz="3800" dirty="0">
                <a:latin typeface="Times New Roman" panose="02020603050405020304" pitchFamily="18" charset="0"/>
                <a:cs typeface="Times New Roman" panose="02020603050405020304" pitchFamily="18" charset="0"/>
              </a:rPr>
              <a:t> Python Battery Mathematical Modeling</a:t>
            </a:r>
            <a:endParaRPr lang="en-IN" sz="3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421572-D278-5651-4A09-040953FFB797}"/>
              </a:ext>
            </a:extLst>
          </p:cNvPr>
          <p:cNvSpPr>
            <a:spLocks noGrp="1"/>
          </p:cNvSpPr>
          <p:nvPr>
            <p:ph idx="1"/>
          </p:nvPr>
        </p:nvSpPr>
        <p:spPr>
          <a:xfrm>
            <a:off x="78379" y="949234"/>
            <a:ext cx="12035244" cy="5799909"/>
          </a:xfrm>
        </p:spPr>
        <p:txBody>
          <a:bodyPr/>
          <a:lstStyle/>
          <a:p>
            <a:r>
              <a:rPr lang="en-US" dirty="0">
                <a:latin typeface="Times New Roman" panose="02020603050405020304" pitchFamily="18" charset="0"/>
                <a:cs typeface="Times New Roman" panose="02020603050405020304" pitchFamily="18" charset="0"/>
              </a:rPr>
              <a:t>It is an open-source Python library used to simulate, analyze, and model battery behavior, especially lithium-ion batteries.</a:t>
            </a:r>
          </a:p>
          <a:p>
            <a:r>
              <a:rPr lang="en-US" dirty="0" err="1">
                <a:latin typeface="Times New Roman" panose="02020603050405020304" pitchFamily="18" charset="0"/>
                <a:cs typeface="Times New Roman" panose="02020603050405020304" pitchFamily="18" charset="0"/>
              </a:rPr>
              <a:t>PyBaMM</a:t>
            </a:r>
            <a:r>
              <a:rPr lang="en-US" dirty="0">
                <a:latin typeface="Times New Roman" panose="02020603050405020304" pitchFamily="18" charset="0"/>
                <a:cs typeface="Times New Roman" panose="02020603050405020304" pitchFamily="18" charset="0"/>
              </a:rPr>
              <a:t> helps engineers and researchers understand how a battery performs, how it heats up, and how it degrades over time — all through coding and simulation instead of real experiments.</a:t>
            </a:r>
          </a:p>
          <a:p>
            <a:r>
              <a:rPr lang="en-US" b="1" u="sng" dirty="0">
                <a:latin typeface="Times New Roman" panose="02020603050405020304" pitchFamily="18" charset="0"/>
                <a:cs typeface="Times New Roman" panose="02020603050405020304" pitchFamily="18" charset="0"/>
              </a:rPr>
              <a:t>Uses:</a:t>
            </a:r>
          </a:p>
          <a:p>
            <a:pPr marL="514350" indent="-514350">
              <a:buFont typeface="+mj-lt"/>
              <a:buAutoNum type="arabicPeriod"/>
            </a:pPr>
            <a:r>
              <a:rPr lang="en-US" dirty="0"/>
              <a:t>Modeling battery charging and discharging</a:t>
            </a:r>
          </a:p>
          <a:p>
            <a:pPr marL="514350" indent="-514350">
              <a:buFont typeface="+mj-lt"/>
              <a:buAutoNum type="arabicPeriod"/>
            </a:pPr>
            <a:r>
              <a:rPr lang="en-US" dirty="0"/>
              <a:t>Predicting battery life and performance</a:t>
            </a:r>
          </a:p>
          <a:p>
            <a:pPr marL="514350" indent="-514350">
              <a:buFont typeface="+mj-lt"/>
              <a:buAutoNum type="arabicPeriod"/>
            </a:pPr>
            <a:r>
              <a:rPr lang="en-US" dirty="0"/>
              <a:t>Studying thermal behavior and safety</a:t>
            </a:r>
          </a:p>
          <a:p>
            <a:pPr marL="514350" indent="-514350">
              <a:buFont typeface="+mj-lt"/>
              <a:buAutoNum type="arabicPeriod"/>
            </a:pPr>
            <a:r>
              <a:rPr lang="en-US" dirty="0"/>
              <a:t>Designing better battery management systems (BMS)</a:t>
            </a:r>
          </a:p>
          <a:p>
            <a:endParaRPr lang="en-US" dirty="0">
              <a:latin typeface="Times New Roman" panose="02020603050405020304" pitchFamily="18" charset="0"/>
              <a:cs typeface="Times New Roman" panose="02020603050405020304" pitchFamily="18" charset="0"/>
            </a:endParaRPr>
          </a:p>
          <a:p>
            <a:pPr marL="0" indent="0">
              <a:buNone/>
            </a:pPr>
            <a:endParaRPr lang="en-IN" dirty="0"/>
          </a:p>
          <a:p>
            <a:pPr marL="0" indent="0">
              <a:buNone/>
            </a:pPr>
            <a:endParaRPr lang="en-IN" dirty="0"/>
          </a:p>
        </p:txBody>
      </p:sp>
    </p:spTree>
    <p:extLst>
      <p:ext uri="{BB962C8B-B14F-4D97-AF65-F5344CB8AC3E}">
        <p14:creationId xmlns:p14="http://schemas.microsoft.com/office/powerpoint/2010/main" val="31259330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58CB7-C059-5584-63E1-4AE0B3D0ED07}"/>
              </a:ext>
            </a:extLst>
          </p:cNvPr>
          <p:cNvSpPr>
            <a:spLocks noGrp="1"/>
          </p:cNvSpPr>
          <p:nvPr>
            <p:ph type="title"/>
          </p:nvPr>
        </p:nvSpPr>
        <p:spPr>
          <a:xfrm>
            <a:off x="104503" y="104503"/>
            <a:ext cx="11974286" cy="905691"/>
          </a:xfrm>
        </p:spPr>
        <p:txBody>
          <a:bodyPr>
            <a:normAutofit fontScale="90000"/>
          </a:bodyPr>
          <a:lstStyle/>
          <a:p>
            <a:br>
              <a:rPr lang="en-IN" dirty="0"/>
            </a:br>
            <a:r>
              <a:rPr lang="en-IN" dirty="0">
                <a:latin typeface="Times New Roman" panose="02020603050405020304" pitchFamily="18" charset="0"/>
                <a:cs typeface="Times New Roman" panose="02020603050405020304" pitchFamily="18" charset="0"/>
              </a:rPr>
              <a:t>What is MQTT</a:t>
            </a:r>
            <a:r>
              <a:rPr lang="en-IN"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Message Queuing Telemetry Transport.</a:t>
            </a:r>
            <a:br>
              <a:rPr lang="en-US"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BBB4E8D2-E9AD-7073-91C6-B97781F11708}"/>
              </a:ext>
            </a:extLst>
          </p:cNvPr>
          <p:cNvSpPr>
            <a:spLocks noGrp="1"/>
          </p:cNvSpPr>
          <p:nvPr>
            <p:ph idx="1"/>
          </p:nvPr>
        </p:nvSpPr>
        <p:spPr>
          <a:xfrm>
            <a:off x="-1" y="862149"/>
            <a:ext cx="12078789" cy="5891348"/>
          </a:xfrm>
        </p:spPr>
        <p:txBody>
          <a:bodyPr/>
          <a:lstStyle/>
          <a:p>
            <a:r>
              <a:rPr lang="en-US" dirty="0">
                <a:latin typeface="Times New Roman" panose="02020603050405020304" pitchFamily="18" charset="0"/>
                <a:cs typeface="Times New Roman" panose="02020603050405020304" pitchFamily="18" charset="0"/>
              </a:rPr>
              <a:t>It is a lightweight communication protocol used for sending data between devices</a:t>
            </a:r>
          </a:p>
          <a:p>
            <a:pPr marL="0" indent="0">
              <a:buNone/>
            </a:pPr>
            <a:r>
              <a:rPr lang="en-US" dirty="0">
                <a:latin typeface="Times New Roman" panose="02020603050405020304" pitchFamily="18" charset="0"/>
                <a:cs typeface="Times New Roman" panose="02020603050405020304" pitchFamily="18" charset="0"/>
              </a:rPr>
              <a:t>especially in IoT (Internet of Things) systems.</a:t>
            </a:r>
          </a:p>
          <a:p>
            <a:r>
              <a:rPr lang="en-US" dirty="0">
                <a:latin typeface="Times New Roman" panose="02020603050405020304" pitchFamily="18" charset="0"/>
                <a:cs typeface="Times New Roman" panose="02020603050405020304" pitchFamily="18" charset="0"/>
              </a:rPr>
              <a:t>It’s fast, uses very little data, and is perfect for real-time applications like your AI-powered EV battery monitoring system.</a:t>
            </a:r>
          </a:p>
          <a:p>
            <a:r>
              <a:rPr lang="en-US" b="1" u="sng" dirty="0">
                <a:latin typeface="Times New Roman" panose="02020603050405020304" pitchFamily="18" charset="0"/>
                <a:cs typeface="Times New Roman" panose="02020603050405020304" pitchFamily="18" charset="0"/>
              </a:rPr>
              <a:t>MQTT Publisher:</a:t>
            </a:r>
          </a:p>
          <a:p>
            <a:pPr marL="0" indent="0">
              <a:buNone/>
            </a:pPr>
            <a:r>
              <a:rPr lang="en-US" dirty="0">
                <a:latin typeface="Times New Roman" panose="02020603050405020304" pitchFamily="18" charset="0"/>
                <a:cs typeface="Times New Roman" panose="02020603050405020304" pitchFamily="18" charset="0"/>
              </a:rPr>
              <a:t>The publisher collects information  like battery temperature, voltage, or current and publishes (sends) that data to the broker.</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Other devices (called subscribers) can then receive that data through the broker</a:t>
            </a:r>
          </a:p>
          <a:p>
            <a:r>
              <a:rPr lang="en-US" b="1" u="sng" dirty="0">
                <a:latin typeface="Times New Roman" panose="02020603050405020304" pitchFamily="18" charset="0"/>
                <a:cs typeface="Times New Roman" panose="02020603050405020304" pitchFamily="18" charset="0"/>
              </a:rPr>
              <a:t>MQTT Broker :</a:t>
            </a:r>
          </a:p>
          <a:p>
            <a:pPr marL="0" indent="0">
              <a:buNone/>
            </a:pPr>
            <a:r>
              <a:rPr lang="en-US" dirty="0">
                <a:latin typeface="Times New Roman" panose="02020603050405020304" pitchFamily="18" charset="0"/>
                <a:cs typeface="Times New Roman" panose="02020603050405020304" pitchFamily="18" charset="0"/>
              </a:rPr>
              <a:t>The broker acts like a post office  it receives messages from publishers and delivers them to the right subscribers.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It makes sure that data is sent only to the devices that need it.</a:t>
            </a:r>
            <a:endParaRPr lang="en-US" u="sng"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2469490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944E6-A4DD-10F3-4B69-34086E6886F2}"/>
              </a:ext>
            </a:extLst>
          </p:cNvPr>
          <p:cNvSpPr>
            <a:spLocks noGrp="1"/>
          </p:cNvSpPr>
          <p:nvPr>
            <p:ph type="title"/>
          </p:nvPr>
        </p:nvSpPr>
        <p:spPr>
          <a:xfrm>
            <a:off x="104503" y="121922"/>
            <a:ext cx="11965577" cy="966650"/>
          </a:xfrm>
        </p:spPr>
        <p:txBody>
          <a:bodyPr>
            <a:normAutofit/>
          </a:bodyPr>
          <a:lstStyle/>
          <a:p>
            <a:r>
              <a:rPr lang="en-IN" sz="2800" b="1" u="sng" dirty="0">
                <a:latin typeface="Times New Roman" panose="02020603050405020304" pitchFamily="18" charset="0"/>
                <a:cs typeface="Times New Roman" panose="02020603050405020304" pitchFamily="18" charset="0"/>
              </a:rPr>
              <a:t>MQTT Subscriber:</a:t>
            </a:r>
          </a:p>
        </p:txBody>
      </p:sp>
      <p:sp>
        <p:nvSpPr>
          <p:cNvPr id="3" name="Content Placeholder 2">
            <a:extLst>
              <a:ext uri="{FF2B5EF4-FFF2-40B4-BE49-F238E27FC236}">
                <a16:creationId xmlns:a16="http://schemas.microsoft.com/office/drawing/2014/main" id="{042989D2-F971-4202-9FF6-FCF73EA9900E}"/>
              </a:ext>
            </a:extLst>
          </p:cNvPr>
          <p:cNvSpPr>
            <a:spLocks noGrp="1"/>
          </p:cNvSpPr>
          <p:nvPr>
            <p:ph idx="1"/>
          </p:nvPr>
        </p:nvSpPr>
        <p:spPr>
          <a:xfrm>
            <a:off x="121920" y="879566"/>
            <a:ext cx="11231880" cy="5297397"/>
          </a:xfrm>
        </p:spPr>
        <p:txBody>
          <a:bodyPr/>
          <a:lstStyle/>
          <a:p>
            <a:r>
              <a:rPr lang="en-US" dirty="0">
                <a:latin typeface="Times New Roman" panose="02020603050405020304" pitchFamily="18" charset="0"/>
                <a:cs typeface="Times New Roman" panose="02020603050405020304" pitchFamily="18" charset="0"/>
              </a:rPr>
              <a:t>The subscriber listens for messages on specific topics and gets the data that the publisher sends through the broker.</a:t>
            </a:r>
          </a:p>
          <a:p>
            <a:pPr marL="0" indent="0">
              <a:buNone/>
            </a:pPr>
            <a:r>
              <a:rPr lang="en-US" dirty="0">
                <a:latin typeface="Times New Roman" panose="02020603050405020304" pitchFamily="18" charset="0"/>
                <a:cs typeface="Times New Roman" panose="02020603050405020304" pitchFamily="18" charset="0"/>
              </a:rPr>
              <a:t>Example:</a:t>
            </a:r>
          </a:p>
          <a:p>
            <a:pPr marL="0" indent="0">
              <a:buNone/>
            </a:pPr>
            <a:r>
              <a:rPr lang="en-US" dirty="0"/>
              <a:t>Publisher → sends data → Broker → delivers data → Subscriber (receives data)</a:t>
            </a:r>
          </a:p>
          <a:p>
            <a:r>
              <a:rPr lang="en-US" b="1" dirty="0"/>
              <a:t>Publisher:</a:t>
            </a:r>
            <a:r>
              <a:rPr lang="en-US" dirty="0"/>
              <a:t> The EV battery sensor sends temperature data to the MQTT broker.</a:t>
            </a:r>
          </a:p>
          <a:p>
            <a:r>
              <a:rPr lang="en-US" b="1" dirty="0"/>
              <a:t>Broker:</a:t>
            </a:r>
            <a:r>
              <a:rPr lang="en-US" dirty="0"/>
              <a:t> The MQTT broker transfers the data from the sensor to other connected devices.</a:t>
            </a:r>
          </a:p>
          <a:p>
            <a:r>
              <a:rPr lang="en-US" b="1" dirty="0"/>
              <a:t>Subscriber:</a:t>
            </a:r>
            <a:r>
              <a:rPr lang="en-US" dirty="0"/>
              <a:t> The AI system receives the data from the broker and analyzes it for fire risk detection.</a:t>
            </a:r>
          </a:p>
          <a:p>
            <a:pPr marL="0" indent="0">
              <a:buNone/>
            </a:pPr>
            <a:endParaRPr lang="en-US"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5601409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CBD80-C202-28AC-593D-CB1BF9435FCE}"/>
              </a:ext>
            </a:extLst>
          </p:cNvPr>
          <p:cNvSpPr>
            <a:spLocks noGrp="1"/>
          </p:cNvSpPr>
          <p:nvPr>
            <p:ph type="title"/>
          </p:nvPr>
        </p:nvSpPr>
        <p:spPr>
          <a:xfrm>
            <a:off x="95795" y="1"/>
            <a:ext cx="11643359" cy="914399"/>
          </a:xfrm>
        </p:spPr>
        <p:txBody>
          <a:bodyPr/>
          <a:lstStyle/>
          <a:p>
            <a:r>
              <a:rPr lang="en-US" b="1" dirty="0">
                <a:latin typeface="Times New Roman" panose="02020603050405020304" pitchFamily="18" charset="0"/>
                <a:cs typeface="Times New Roman" panose="02020603050405020304" pitchFamily="18" charset="0"/>
              </a:rPr>
              <a:t>Artificial Intelligence and Machine Learning:</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E0B20BB-1891-CF83-6EFA-8D985CC46104}"/>
              </a:ext>
            </a:extLst>
          </p:cNvPr>
          <p:cNvSpPr>
            <a:spLocks noGrp="1"/>
          </p:cNvSpPr>
          <p:nvPr>
            <p:ph idx="1"/>
          </p:nvPr>
        </p:nvSpPr>
        <p:spPr>
          <a:xfrm>
            <a:off x="95795" y="914400"/>
            <a:ext cx="11258005" cy="5712823"/>
          </a:xfrm>
        </p:spPr>
        <p:txBody>
          <a:bodyPr>
            <a:normAutofit fontScale="92500" lnSpcReduction="20000"/>
          </a:bodyPr>
          <a:lstStyle/>
          <a:p>
            <a:r>
              <a:rPr lang="en-US" dirty="0">
                <a:latin typeface="Times New Roman" panose="02020603050405020304" pitchFamily="18" charset="0"/>
                <a:cs typeface="Times New Roman" panose="02020603050405020304" pitchFamily="18" charset="0"/>
              </a:rPr>
              <a:t>AIML helps computers analyze data, recognize patterns, and predict outcomes</a:t>
            </a:r>
          </a:p>
          <a:p>
            <a:r>
              <a:rPr lang="en-US" dirty="0">
                <a:latin typeface="Times New Roman" panose="02020603050405020304" pitchFamily="18" charset="0"/>
                <a:cs typeface="Times New Roman" panose="02020603050405020304" pitchFamily="18" charset="0"/>
              </a:rPr>
              <a:t>For example, detecting battery fire risks</a:t>
            </a:r>
          </a:p>
          <a:p>
            <a:r>
              <a:rPr lang="en-US" b="1" u="sng" dirty="0">
                <a:latin typeface="Times New Roman" panose="02020603050405020304" pitchFamily="18" charset="0"/>
                <a:cs typeface="Times New Roman" panose="02020603050405020304" pitchFamily="18" charset="0"/>
              </a:rPr>
              <a:t>Uses of AIML:</a:t>
            </a:r>
          </a:p>
          <a:p>
            <a:pPr marL="514350" indent="-514350">
              <a:buFont typeface="+mj-lt"/>
              <a:buAutoNum type="alphaLcParenR"/>
            </a:pPr>
            <a:r>
              <a:rPr lang="en-US" b="1" dirty="0">
                <a:latin typeface="Times New Roman" panose="02020603050405020304" pitchFamily="18" charset="0"/>
                <a:cs typeface="Times New Roman" panose="02020603050405020304" pitchFamily="18" charset="0"/>
              </a:rPr>
              <a:t>Data Analysis: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AIML analyzes battery data such as temperature, voltage, and current in real time.</a:t>
            </a:r>
          </a:p>
          <a:p>
            <a:pPr marL="514350" indent="-514350">
              <a:buFont typeface="+mj-lt"/>
              <a:buAutoNum type="alphaLcParenR"/>
            </a:pPr>
            <a:r>
              <a:rPr lang="en-US" b="1" dirty="0">
                <a:latin typeface="Times New Roman" panose="02020603050405020304" pitchFamily="18" charset="0"/>
                <a:cs typeface="Times New Roman" panose="02020603050405020304" pitchFamily="18" charset="0"/>
              </a:rPr>
              <a:t>Pattern Detection: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It identifies unusual patterns that indicate overheating or possible fire risks.</a:t>
            </a:r>
          </a:p>
          <a:p>
            <a:pPr marL="514350" indent="-514350">
              <a:buFont typeface="+mj-lt"/>
              <a:buAutoNum type="alphaLcParenR"/>
            </a:pPr>
            <a:r>
              <a:rPr lang="en-US" b="1" dirty="0">
                <a:latin typeface="Times New Roman" panose="02020603050405020304" pitchFamily="18" charset="0"/>
                <a:cs typeface="Times New Roman" panose="02020603050405020304" pitchFamily="18" charset="0"/>
              </a:rPr>
              <a:t>Prediction: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Machine learning models predict battery failures or fire hazards before they occur.</a:t>
            </a:r>
          </a:p>
          <a:p>
            <a:pPr marL="514350" indent="-514350">
              <a:buFont typeface="+mj-lt"/>
              <a:buAutoNum type="alphaLcParenR"/>
            </a:pPr>
            <a:r>
              <a:rPr lang="en-US" b="1" dirty="0">
                <a:latin typeface="Times New Roman" panose="02020603050405020304" pitchFamily="18" charset="0"/>
                <a:cs typeface="Times New Roman" panose="02020603050405020304" pitchFamily="18" charset="0"/>
              </a:rPr>
              <a:t>Decision Making: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AI system automatically triggers alerts or safety actions based on predictions.</a:t>
            </a:r>
          </a:p>
          <a:p>
            <a:pPr marL="514350" indent="-514350">
              <a:buFont typeface="+mj-lt"/>
              <a:buAutoNum type="alphaLcParenR"/>
            </a:pPr>
            <a:r>
              <a:rPr lang="en-US" b="1" dirty="0">
                <a:latin typeface="Times New Roman" panose="02020603050405020304" pitchFamily="18" charset="0"/>
                <a:cs typeface="Times New Roman" panose="02020603050405020304" pitchFamily="18" charset="0"/>
              </a:rPr>
              <a:t>Performance Improvement: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Continuous learning from data helps improve accuracy and system efficiency over time.</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78614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92EC6-612A-9EDF-D1A3-0EEE6604134F}"/>
              </a:ext>
            </a:extLst>
          </p:cNvPr>
          <p:cNvSpPr>
            <a:spLocks noGrp="1"/>
          </p:cNvSpPr>
          <p:nvPr>
            <p:ph type="title"/>
          </p:nvPr>
        </p:nvSpPr>
        <p:spPr>
          <a:xfrm>
            <a:off x="130629" y="1"/>
            <a:ext cx="11939451" cy="1254033"/>
          </a:xfrm>
        </p:spPr>
        <p:txBody>
          <a:bodyPr/>
          <a:lstStyle/>
          <a:p>
            <a:r>
              <a:rPr lang="en-IN" dirty="0"/>
              <a:t>Cloud/Service</a:t>
            </a:r>
          </a:p>
        </p:txBody>
      </p:sp>
      <p:sp>
        <p:nvSpPr>
          <p:cNvPr id="3" name="Content Placeholder 2">
            <a:extLst>
              <a:ext uri="{FF2B5EF4-FFF2-40B4-BE49-F238E27FC236}">
                <a16:creationId xmlns:a16="http://schemas.microsoft.com/office/drawing/2014/main" id="{24E80378-18DB-B4ED-8914-6C90A4AE18E1}"/>
              </a:ext>
            </a:extLst>
          </p:cNvPr>
          <p:cNvSpPr>
            <a:spLocks noGrp="1"/>
          </p:cNvSpPr>
          <p:nvPr>
            <p:ph idx="1"/>
          </p:nvPr>
        </p:nvSpPr>
        <p:spPr>
          <a:xfrm>
            <a:off x="209006" y="1410789"/>
            <a:ext cx="11861074" cy="5251268"/>
          </a:xfrm>
        </p:spPr>
        <p:txBody>
          <a:bodyPr/>
          <a:lstStyle/>
          <a:p>
            <a:r>
              <a:rPr lang="en-US" dirty="0">
                <a:latin typeface="Times New Roman" panose="02020603050405020304" pitchFamily="18" charset="0"/>
                <a:cs typeface="Times New Roman" panose="02020603050405020304" pitchFamily="18" charset="0"/>
              </a:rPr>
              <a:t>It means your data or application runs on remote servers (like Google Cloud) so you can access it anytime, from anywhere.</a:t>
            </a:r>
          </a:p>
          <a:p>
            <a:r>
              <a:rPr lang="en-US" dirty="0">
                <a:latin typeface="Times New Roman" panose="02020603050405020304" pitchFamily="18" charset="0"/>
                <a:cs typeface="Times New Roman" panose="02020603050405020304" pitchFamily="18" charset="0"/>
              </a:rPr>
              <a:t>Cloud services can be used to:</a:t>
            </a:r>
          </a:p>
          <a:p>
            <a:pPr marL="514350" indent="-514350">
              <a:buFont typeface="+mj-lt"/>
              <a:buAutoNum type="arabicParenR"/>
            </a:pPr>
            <a:r>
              <a:rPr lang="en-US" dirty="0">
                <a:latin typeface="Times New Roman" panose="02020603050405020304" pitchFamily="18" charset="0"/>
                <a:cs typeface="Times New Roman" panose="02020603050405020304" pitchFamily="18" charset="0"/>
              </a:rPr>
              <a:t>Store real-time battery data,</a:t>
            </a:r>
          </a:p>
          <a:p>
            <a:pPr marL="514350" indent="-514350">
              <a:buFont typeface="+mj-lt"/>
              <a:buAutoNum type="arabicParenR"/>
            </a:pPr>
            <a:r>
              <a:rPr lang="en-US" dirty="0">
                <a:latin typeface="Times New Roman" panose="02020603050405020304" pitchFamily="18" charset="0"/>
                <a:cs typeface="Times New Roman" panose="02020603050405020304" pitchFamily="18" charset="0"/>
              </a:rPr>
              <a:t>Analyze it using AI models, and</a:t>
            </a:r>
          </a:p>
          <a:p>
            <a:pPr marL="514350" indent="-514350">
              <a:buFont typeface="+mj-lt"/>
              <a:buAutoNum type="arabicParenR"/>
            </a:pPr>
            <a:r>
              <a:rPr lang="en-US" dirty="0">
                <a:latin typeface="Times New Roman" panose="02020603050405020304" pitchFamily="18" charset="0"/>
                <a:cs typeface="Times New Roman" panose="02020603050405020304" pitchFamily="18" charset="0"/>
              </a:rPr>
              <a:t>Send alerts or reports remotely to users.</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59631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TotalTime>
  <Words>662</Words>
  <Application>Microsoft Office PowerPoint</Application>
  <PresentationFormat>Widescreen</PresentationFormat>
  <Paragraphs>52</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Times New Roman</vt:lpstr>
      <vt:lpstr>Office Theme</vt:lpstr>
      <vt:lpstr>Mini Project  AI-Powered EV Battery Fire Prevention System </vt:lpstr>
      <vt:lpstr>AI-Powered EV Battery Fire Prevention System</vt:lpstr>
      <vt:lpstr> Problem Statement </vt:lpstr>
      <vt:lpstr>What is PyBamm: Python Battery Mathematical Modeling</vt:lpstr>
      <vt:lpstr> What is MQTT:Message Queuing Telemetry Transport. </vt:lpstr>
      <vt:lpstr>MQTT Subscriber:</vt:lpstr>
      <vt:lpstr>Artificial Intelligence and Machine Learning:</vt:lpstr>
      <vt:lpstr>Cloud/Service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Anirudh Srivathsa T S</dc:creator>
  <cp:lastModifiedBy>Anirudh Srivathsa T S</cp:lastModifiedBy>
  <cp:revision>1</cp:revision>
  <dcterms:created xsi:type="dcterms:W3CDTF">2025-10-29T01:52:42Z</dcterms:created>
  <dcterms:modified xsi:type="dcterms:W3CDTF">2025-10-29T03:04:34Z</dcterms:modified>
</cp:coreProperties>
</file>